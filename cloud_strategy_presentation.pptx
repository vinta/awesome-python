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0"/>
            <a:ext cx="9144000" cy="548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863840" cy="1371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4400" b="1">
                <a:solidFill>
                  <a:srgbClr val="E2E8F0"/>
                </a:solidFill>
                <a:latin typeface="Segoe UI"/>
              </a:defRPr>
            </a:pPr>
            <a:r>
              <a:t>Cloud Strategy Vision</a:t>
            </a:r>
          </a:p>
          <a:p>
            <a:pPr>
              <a:spcBef>
                <a:spcPts val="600"/>
              </a:spcBef>
              <a:defRPr sz="2000">
                <a:solidFill>
                  <a:srgbClr val="94A3B8"/>
                </a:solidFill>
                <a:latin typeface="Segoe UI"/>
              </a:defRPr>
            </a:pPr>
            <a:r>
              <a:t>Deliver scalable, secure, and efficient business services.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0"/>
            <a:ext cx="9144000" cy="548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863840" cy="1371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4400" b="1">
                <a:solidFill>
                  <a:srgbClr val="E2E8F0"/>
                </a:solidFill>
                <a:latin typeface="Segoe UI"/>
              </a:defRPr>
            </a:pPr>
            <a:r>
              <a:t>Why Cloud Now?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2400">
                <a:solidFill>
                  <a:srgbClr val="E2E8F0"/>
                </a:solidFill>
                <a:latin typeface="Segoe UI"/>
              </a:defRPr>
            </a:pPr>
            <a:r>
              <a:t>Accelerate digital products and data-driven decisions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>
                <a:solidFill>
                  <a:srgbClr val="E2E8F0"/>
                </a:solidFill>
                <a:latin typeface="Segoe UI"/>
              </a:defRPr>
            </a:pPr>
            <a:r>
              <a:t>Improve resilience with global availability zones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>
                <a:solidFill>
                  <a:srgbClr val="E2E8F0"/>
                </a:solidFill>
                <a:latin typeface="Segoe UI"/>
              </a:defRPr>
            </a:pPr>
            <a:r>
              <a:t>Optimize costs via pay-as-you-go pricing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>
                <a:solidFill>
                  <a:srgbClr val="E2E8F0"/>
                </a:solidFill>
                <a:latin typeface="Segoe UI"/>
              </a:defRPr>
            </a:pPr>
            <a:r>
              <a:t>Unlock rapid experimentation and innovation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0"/>
            <a:ext cx="9144000" cy="548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863840" cy="1371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4400" b="1">
                <a:solidFill>
                  <a:srgbClr val="E2E8F0"/>
                </a:solidFill>
                <a:latin typeface="Segoe UI"/>
              </a:defRPr>
            </a:pPr>
            <a:r>
              <a:t>Market Momentum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2400">
                <a:solidFill>
                  <a:srgbClr val="E2E8F0"/>
                </a:solidFill>
                <a:latin typeface="Segoe UI"/>
              </a:defRPr>
            </a:pPr>
            <a:r>
              <a:t>Public cloud spend projected to hit $1T by 2027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>
                <a:solidFill>
                  <a:srgbClr val="E2E8F0"/>
                </a:solidFill>
                <a:latin typeface="Segoe UI"/>
              </a:defRPr>
            </a:pPr>
            <a:r>
              <a:t>80% of enterprises adopt multi-cloud architectures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>
                <a:solidFill>
                  <a:srgbClr val="E2E8F0"/>
                </a:solidFill>
                <a:latin typeface="Segoe UI"/>
              </a:defRPr>
            </a:pPr>
            <a:r>
              <a:t>Data gravity shifting workloads from on-prem to cloud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>
                <a:solidFill>
                  <a:srgbClr val="E2E8F0"/>
                </a:solidFill>
                <a:latin typeface="Segoe UI"/>
              </a:defRPr>
            </a:pPr>
            <a:r>
              <a:t>Talent market favors cloud-native engineering skill sets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0"/>
            <a:ext cx="9144000" cy="548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863840" cy="1371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4400" b="1">
                <a:solidFill>
                  <a:srgbClr val="E2E8F0"/>
                </a:solidFill>
                <a:latin typeface="Segoe UI"/>
              </a:defRPr>
            </a:pPr>
            <a:r>
              <a:t>Cloud Value Pillars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2400">
                <a:solidFill>
                  <a:srgbClr val="E2E8F0"/>
                </a:solidFill>
                <a:latin typeface="Segoe UI"/>
              </a:defRPr>
            </a:pPr>
            <a:r>
              <a:t>Speed to Market</a:t>
            </a:r>
          </a:p>
          <a:p>
            <a:pPr lvl="1">
              <a:spcBef>
                <a:spcPts val="600"/>
              </a:spcBef>
              <a:spcAft>
                <a:spcPts val="400"/>
              </a:spcAft>
              <a:defRPr sz="2200">
                <a:solidFill>
                  <a:srgbClr val="94A3B8"/>
                </a:solidFill>
                <a:latin typeface="Segoe UI"/>
              </a:defRPr>
            </a:pPr>
            <a:r>
              <a:t>Automated pipelines and on-demand environments shorten release cycles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>
                <a:solidFill>
                  <a:srgbClr val="E2E8F0"/>
                </a:solidFill>
                <a:latin typeface="Segoe UI"/>
              </a:defRPr>
            </a:pPr>
            <a:r>
              <a:t>Reliability &amp; Scale</a:t>
            </a:r>
          </a:p>
          <a:p>
            <a:pPr lvl="1">
              <a:spcBef>
                <a:spcPts val="600"/>
              </a:spcBef>
              <a:spcAft>
                <a:spcPts val="400"/>
              </a:spcAft>
              <a:defRPr sz="2200">
                <a:solidFill>
                  <a:srgbClr val="94A3B8"/>
                </a:solidFill>
                <a:latin typeface="Segoe UI"/>
              </a:defRPr>
            </a:pPr>
            <a:r>
              <a:t>Elastic services adapt to seasonal and real-time demand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>
                <a:solidFill>
                  <a:srgbClr val="E2E8F0"/>
                </a:solidFill>
                <a:latin typeface="Segoe UI"/>
              </a:defRPr>
            </a:pPr>
            <a:r>
              <a:t>Intelligence</a:t>
            </a:r>
          </a:p>
          <a:p>
            <a:pPr lvl="1">
              <a:spcBef>
                <a:spcPts val="600"/>
              </a:spcBef>
              <a:spcAft>
                <a:spcPts val="400"/>
              </a:spcAft>
              <a:defRPr sz="2200">
                <a:solidFill>
                  <a:srgbClr val="94A3B8"/>
                </a:solidFill>
                <a:latin typeface="Segoe UI"/>
              </a:defRPr>
            </a:pPr>
            <a:r>
              <a:t>Managed analytics and AI platforms transform business operations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>
                <a:solidFill>
                  <a:srgbClr val="E2E8F0"/>
                </a:solidFill>
                <a:latin typeface="Segoe UI"/>
              </a:defRPr>
            </a:pPr>
            <a:r>
              <a:t>Efficiency</a:t>
            </a:r>
          </a:p>
          <a:p>
            <a:pPr lvl="1">
              <a:spcBef>
                <a:spcPts val="600"/>
              </a:spcBef>
              <a:spcAft>
                <a:spcPts val="400"/>
              </a:spcAft>
              <a:defRPr sz="2200">
                <a:solidFill>
                  <a:srgbClr val="94A3B8"/>
                </a:solidFill>
                <a:latin typeface="Segoe UI"/>
              </a:defRPr>
            </a:pPr>
            <a:r>
              <a:t>Usage-based billing eliminates idle infrastructure costs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0"/>
            <a:ext cx="9144000" cy="548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863840" cy="1371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4400" b="1">
                <a:solidFill>
                  <a:srgbClr val="E2E8F0"/>
                </a:solidFill>
                <a:latin typeface="Segoe UI"/>
              </a:defRPr>
            </a:pPr>
            <a:r>
              <a:t>Service Model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2400">
                <a:solidFill>
                  <a:srgbClr val="E2E8F0"/>
                </a:solidFill>
                <a:latin typeface="Segoe UI"/>
              </a:defRPr>
            </a:pPr>
            <a:r>
              <a:t>IaaS: Virtual networks, compute, storage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>
                <a:solidFill>
                  <a:srgbClr val="E2E8F0"/>
                </a:solidFill>
                <a:latin typeface="Segoe UI"/>
              </a:defRPr>
            </a:pPr>
            <a:r>
              <a:t>PaaS: Managed app runtimes &amp; databases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>
                <a:solidFill>
                  <a:srgbClr val="E2E8F0"/>
                </a:solidFill>
                <a:latin typeface="Segoe UI"/>
              </a:defRPr>
            </a:pPr>
            <a:r>
              <a:t>SaaS: Complete business applications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>
                <a:solidFill>
                  <a:srgbClr val="E2E8F0"/>
                </a:solidFill>
                <a:latin typeface="Segoe UI"/>
              </a:defRPr>
            </a:pPr>
            <a:r>
              <a:t>FaaS: Event-driven serverless functions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0"/>
            <a:ext cx="9144000" cy="548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863840" cy="1371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4400" b="1">
                <a:solidFill>
                  <a:srgbClr val="E2E8F0"/>
                </a:solidFill>
                <a:latin typeface="Segoe UI"/>
              </a:defRPr>
            </a:pPr>
            <a:r>
              <a:t>Deployment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2400">
                <a:solidFill>
                  <a:srgbClr val="E2E8F0"/>
                </a:solidFill>
                <a:latin typeface="Segoe UI"/>
              </a:defRPr>
            </a:pPr>
            <a:r>
              <a:t>Public Cloud: Agility and global scale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>
                <a:solidFill>
                  <a:srgbClr val="E2E8F0"/>
                </a:solidFill>
                <a:latin typeface="Segoe UI"/>
              </a:defRPr>
            </a:pPr>
            <a:r>
              <a:t>Private Cloud: Compliance for regulated workloads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>
                <a:solidFill>
                  <a:srgbClr val="E2E8F0"/>
                </a:solidFill>
                <a:latin typeface="Segoe UI"/>
              </a:defRPr>
            </a:pPr>
            <a:r>
              <a:t>Hybrid Cloud: Bridge existing estates with new builds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>
                <a:solidFill>
                  <a:srgbClr val="E2E8F0"/>
                </a:solidFill>
                <a:latin typeface="Segoe UI"/>
              </a:defRPr>
            </a:pPr>
            <a:r>
              <a:t>Edge: Low-latency processing near devices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0"/>
            <a:ext cx="9144000" cy="548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863840" cy="1371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4400" b="1">
                <a:solidFill>
                  <a:srgbClr val="E2E8F0"/>
                </a:solidFill>
                <a:latin typeface="Segoe UI"/>
              </a:defRPr>
            </a:pPr>
            <a:r>
              <a:t>Operating Model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  <a:latin typeface="Segoe UI"/>
              </a:defRPr>
            </a:pPr>
            <a:r>
              <a:t>People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200">
                <a:solidFill>
                  <a:srgbClr val="E2E8F0"/>
                </a:solidFill>
                <a:latin typeface="Segoe UI"/>
              </a:defRPr>
            </a:pPr>
            <a:r>
              <a:t>Cloud Center of Excellence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200">
                <a:solidFill>
                  <a:srgbClr val="E2E8F0"/>
                </a:solidFill>
                <a:latin typeface="Segoe UI"/>
              </a:defRPr>
            </a:pPr>
            <a:r>
              <a:t>Upskill engineers in DevSecOps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200">
                <a:solidFill>
                  <a:srgbClr val="E2E8F0"/>
                </a:solidFill>
                <a:latin typeface="Segoe UI"/>
              </a:defRPr>
            </a:pPr>
            <a:r>
              <a:t>Embed FinOps for cost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201168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  <a:latin typeface="Segoe UI"/>
              </a:defRPr>
            </a:pPr>
            <a:r>
              <a:t>Process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200">
                <a:solidFill>
                  <a:srgbClr val="E2E8F0"/>
                </a:solidFill>
                <a:latin typeface="Segoe UI"/>
              </a:defRPr>
            </a:pPr>
            <a:r>
              <a:t>Product-aligned delivery squads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200">
                <a:solidFill>
                  <a:srgbClr val="E2E8F0"/>
                </a:solidFill>
                <a:latin typeface="Segoe UI"/>
              </a:defRPr>
            </a:pPr>
            <a:r>
              <a:t>Infrastructure as Code standard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200">
                <a:solidFill>
                  <a:srgbClr val="E2E8F0"/>
                </a:solidFill>
                <a:latin typeface="Segoe UI"/>
              </a:defRPr>
            </a:pPr>
            <a:r>
              <a:t>Continuous compliance automation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0"/>
            <a:ext cx="9144000" cy="548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863840" cy="1371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4400" b="1">
                <a:solidFill>
                  <a:srgbClr val="E2E8F0"/>
                </a:solidFill>
                <a:latin typeface="Segoe UI"/>
              </a:defRPr>
            </a:pPr>
            <a:r>
              <a:t>Capability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2400">
                <a:solidFill>
                  <a:srgbClr val="E2E8F0"/>
                </a:solidFill>
                <a:latin typeface="Segoe UI"/>
              </a:defRPr>
            </a:pPr>
            <a:r>
              <a:t>Phase 1: Baseline foundations</a:t>
            </a:r>
          </a:p>
          <a:p>
            <a:pPr lvl="1">
              <a:spcBef>
                <a:spcPts val="600"/>
              </a:spcBef>
              <a:spcAft>
                <a:spcPts val="400"/>
              </a:spcAft>
              <a:defRPr sz="2200">
                <a:solidFill>
                  <a:srgbClr val="94A3B8"/>
                </a:solidFill>
                <a:latin typeface="Segoe UI"/>
              </a:defRPr>
            </a:pPr>
            <a:r>
              <a:t>Landing zone, identity, network segmentation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>
                <a:solidFill>
                  <a:srgbClr val="E2E8F0"/>
                </a:solidFill>
                <a:latin typeface="Segoe UI"/>
              </a:defRPr>
            </a:pPr>
            <a:r>
              <a:t>Phase 2: Modernize workloads</a:t>
            </a:r>
          </a:p>
          <a:p>
            <a:pPr lvl="1">
              <a:spcBef>
                <a:spcPts val="600"/>
              </a:spcBef>
              <a:spcAft>
                <a:spcPts val="400"/>
              </a:spcAft>
              <a:defRPr sz="2200">
                <a:solidFill>
                  <a:srgbClr val="94A3B8"/>
                </a:solidFill>
                <a:latin typeface="Segoe UI"/>
              </a:defRPr>
            </a:pPr>
            <a:r>
              <a:t>Refactor critical apps, adopt managed services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>
                <a:solidFill>
                  <a:srgbClr val="E2E8F0"/>
                </a:solidFill>
                <a:latin typeface="Segoe UI"/>
              </a:defRPr>
            </a:pPr>
            <a:r>
              <a:t>Phase 3: Optimize &amp; Innovate</a:t>
            </a:r>
          </a:p>
          <a:p>
            <a:pPr lvl="1">
              <a:spcBef>
                <a:spcPts val="600"/>
              </a:spcBef>
              <a:spcAft>
                <a:spcPts val="400"/>
              </a:spcAft>
              <a:defRPr sz="2200">
                <a:solidFill>
                  <a:srgbClr val="94A3B8"/>
                </a:solidFill>
                <a:latin typeface="Segoe UI"/>
              </a:defRPr>
            </a:pPr>
            <a:r>
              <a:t>AI/ML services, data mesh, automation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0"/>
            <a:ext cx="9144000" cy="548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863840" cy="1371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4400" b="1">
                <a:solidFill>
                  <a:srgbClr val="E2E8F0"/>
                </a:solidFill>
                <a:latin typeface="Segoe UI"/>
              </a:defRPr>
            </a:pPr>
            <a:r>
              <a:t>Cloud Economics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03120"/>
            <a:ext cx="231648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Cost Efficiency</a:t>
            </a:r>
          </a:p>
          <a:p>
            <a:pPr>
              <a:spcBef>
                <a:spcPts val="800"/>
              </a:spcBef>
              <a:defRPr sz="3600" b="1">
                <a:solidFill>
                  <a:srgbClr val="E2E8F0"/>
                </a:solidFill>
                <a:latin typeface="Segoe UI"/>
              </a:defRPr>
            </a:pPr>
            <a:r>
              <a:t>35%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  <a:latin typeface="Segoe UI"/>
              </a:defRPr>
            </a:pPr>
            <a:r>
              <a:t>Average reduction vs. refreshed on-prem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413760" y="2103120"/>
            <a:ext cx="231648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Innovation Velocity</a:t>
            </a:r>
          </a:p>
          <a:p>
            <a:pPr>
              <a:spcBef>
                <a:spcPts val="800"/>
              </a:spcBef>
              <a:defRPr sz="3600" b="1">
                <a:solidFill>
                  <a:srgbClr val="E2E8F0"/>
                </a:solidFill>
                <a:latin typeface="Segoe UI"/>
              </a:defRPr>
            </a:pPr>
            <a:r>
              <a:t>4x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  <a:latin typeface="Segoe UI"/>
              </a:defRPr>
            </a:pPr>
            <a:r>
              <a:t>Faster deployment cadence using CI/CD</a:t>
            </a:r>
          </a:p>
        </p:txBody>
      </p:sp>
      <p:sp>
        <p:nvSpPr>
          <p:cNvPr id="6" name="Rectangle 5"/>
          <p:cNvSpPr/>
          <p:nvPr/>
        </p:nvSpPr>
        <p:spPr>
          <a:xfrm>
            <a:off x="6187440" y="2103120"/>
            <a:ext cx="231648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Resilience</a:t>
            </a:r>
          </a:p>
          <a:p>
            <a:pPr>
              <a:spcBef>
                <a:spcPts val="800"/>
              </a:spcBef>
              <a:defRPr sz="3600" b="1">
                <a:solidFill>
                  <a:srgbClr val="E2E8F0"/>
                </a:solidFill>
                <a:latin typeface="Segoe UI"/>
              </a:defRPr>
            </a:pPr>
            <a:r>
              <a:t>&gt;99.95%</a:t>
            </a:r>
          </a:p>
          <a:p>
            <a:pPr>
              <a:spcBef>
                <a:spcPts val="400"/>
              </a:spcBef>
              <a:defRPr sz="1800">
                <a:solidFill>
                  <a:srgbClr val="94A3B8"/>
                </a:solidFill>
                <a:latin typeface="Segoe UI"/>
              </a:defRPr>
            </a:pPr>
            <a:r>
              <a:t>Target uptime leveraging multi-region design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0"/>
            <a:ext cx="9144000" cy="548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863840" cy="1371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4400" b="1">
                <a:solidFill>
                  <a:srgbClr val="E2E8F0"/>
                </a:solidFill>
                <a:latin typeface="Segoe UI"/>
              </a:defRPr>
            </a:pPr>
            <a:r>
              <a:t>Security &amp; Compliance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2400">
                <a:solidFill>
                  <a:srgbClr val="E2E8F0"/>
                </a:solidFill>
                <a:latin typeface="Segoe UI"/>
              </a:defRPr>
            </a:pPr>
            <a:r>
              <a:t>Zero Trust network segmentation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>
                <a:solidFill>
                  <a:srgbClr val="E2E8F0"/>
                </a:solidFill>
                <a:latin typeface="Segoe UI"/>
              </a:defRPr>
            </a:pPr>
            <a:r>
              <a:t>Unified identity and access governance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>
                <a:solidFill>
                  <a:srgbClr val="E2E8F0"/>
                </a:solidFill>
                <a:latin typeface="Segoe UI"/>
              </a:defRPr>
            </a:pPr>
            <a:r>
              <a:t>Shared responsibility clarified with playbooks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>
                <a:solidFill>
                  <a:srgbClr val="E2E8F0"/>
                </a:solidFill>
                <a:latin typeface="Segoe UI"/>
              </a:defRPr>
            </a:pPr>
            <a:r>
              <a:t>Automated policy-as-code &amp; continuous monitoring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>
                <a:solidFill>
                  <a:srgbClr val="E2E8F0"/>
                </a:solidFill>
                <a:latin typeface="Segoe UI"/>
              </a:defRPr>
            </a:pPr>
            <a:r>
              <a:t>Data protection with encryption and DLP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0"/>
            <a:ext cx="9144000" cy="548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863840" cy="1371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4400" b="1">
                <a:solidFill>
                  <a:srgbClr val="E2E8F0"/>
                </a:solidFill>
                <a:latin typeface="Segoe UI"/>
              </a:defRPr>
            </a:pPr>
            <a:r>
              <a:t>Migration &amp; Modernization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2400">
                <a:solidFill>
                  <a:srgbClr val="E2E8F0"/>
                </a:solidFill>
                <a:latin typeface="Segoe UI"/>
              </a:defRPr>
            </a:pPr>
            <a:r>
              <a:t>Assess: Portfolio discovery and TCO modeling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>
                <a:solidFill>
                  <a:srgbClr val="E2E8F0"/>
                </a:solidFill>
                <a:latin typeface="Segoe UI"/>
              </a:defRPr>
            </a:pPr>
            <a:r>
              <a:t>Mobilize: Build landing zone and migration factory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>
                <a:solidFill>
                  <a:srgbClr val="E2E8F0"/>
                </a:solidFill>
                <a:latin typeface="Segoe UI"/>
              </a:defRPr>
            </a:pPr>
            <a:r>
              <a:t>Migrate: Rehost/replatform prioritized workloads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>
                <a:solidFill>
                  <a:srgbClr val="E2E8F0"/>
                </a:solidFill>
                <a:latin typeface="Segoe UI"/>
              </a:defRPr>
            </a:pPr>
            <a:r>
              <a:t>Modernize: Refactor to cloud-native architectures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>
                <a:solidFill>
                  <a:srgbClr val="E2E8F0"/>
                </a:solidFill>
                <a:latin typeface="Segoe UI"/>
              </a:defRPr>
            </a:pPr>
            <a:r>
              <a:t>Optimize: Continuous tuning and decommission legacy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0"/>
            <a:ext cx="9144000" cy="548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863840" cy="1371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4400" b="1">
                <a:solidFill>
                  <a:srgbClr val="E2E8F0"/>
                </a:solidFill>
                <a:latin typeface="Segoe UI"/>
              </a:defRPr>
            </a:pPr>
            <a:r>
              <a:t>Success Metrics &amp;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2400">
                <a:solidFill>
                  <a:srgbClr val="E2E8F0"/>
                </a:solidFill>
                <a:latin typeface="Segoe UI"/>
              </a:defRPr>
            </a:pPr>
            <a:r>
              <a:t>Deployment frequency and lead time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>
                <a:solidFill>
                  <a:srgbClr val="E2E8F0"/>
                </a:solidFill>
                <a:latin typeface="Segoe UI"/>
              </a:defRPr>
            </a:pPr>
            <a:r>
              <a:t>Mean time to recovery (MTTR)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>
                <a:solidFill>
                  <a:srgbClr val="E2E8F0"/>
                </a:solidFill>
                <a:latin typeface="Segoe UI"/>
              </a:defRPr>
            </a:pPr>
            <a:r>
              <a:t>Cost per transaction/service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>
                <a:solidFill>
                  <a:srgbClr val="E2E8F0"/>
                </a:solidFill>
                <a:latin typeface="Segoe UI"/>
              </a:defRPr>
            </a:pPr>
            <a:r>
              <a:t>Cloud maturity index per business unit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>
                <a:solidFill>
                  <a:srgbClr val="E2E8F0"/>
                </a:solidFill>
                <a:latin typeface="Segoe UI"/>
              </a:defRPr>
            </a:pPr>
            <a:r>
              <a:t>Customer satisfaction for digital channels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0"/>
            <a:ext cx="9144000" cy="548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863840" cy="1371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4400" b="1">
                <a:solidFill>
                  <a:srgbClr val="E2E8F0"/>
                </a:solidFill>
                <a:latin typeface="Segoe UI"/>
              </a:defRPr>
            </a:pPr>
            <a:r>
              <a:t>Call to Action</a:t>
            </a:r>
          </a:p>
          <a:p>
            <a:pPr>
              <a:spcBef>
                <a:spcPts val="600"/>
              </a:spcBef>
              <a:defRPr sz="2000">
                <a:solidFill>
                  <a:srgbClr val="94A3B8"/>
                </a:solidFill>
                <a:latin typeface="Segoe UI"/>
              </a:defRPr>
            </a:pPr>
            <a:r>
              <a:t>Align stakeholders and launch roadmap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2400">
                <a:solidFill>
                  <a:srgbClr val="E2E8F0"/>
                </a:solidFill>
                <a:latin typeface="Segoe UI"/>
              </a:defRPr>
            </a:pPr>
            <a:r>
              <a:t>Finalize business case and funding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>
                <a:solidFill>
                  <a:srgbClr val="E2E8F0"/>
                </a:solidFill>
                <a:latin typeface="Segoe UI"/>
              </a:defRPr>
            </a:pPr>
            <a:r>
              <a:t>Stand up CCoE with executive sponsorship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>
                <a:solidFill>
                  <a:srgbClr val="E2E8F0"/>
                </a:solidFill>
                <a:latin typeface="Segoe UI"/>
              </a:defRPr>
            </a:pPr>
            <a:r>
              <a:t>Pilot lighthouse application in Q2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400">
                <a:solidFill>
                  <a:srgbClr val="E2E8F0"/>
                </a:solidFill>
                <a:latin typeface="Segoe UI"/>
              </a:defRPr>
            </a:pPr>
            <a:r>
              <a:t>Establish governance with measurable KPIs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